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Tenor Sans" charset="1" panose="02000000000000000000"/>
      <p:regular r:id="rId22"/>
    </p:embeddedFont>
    <p:embeddedFont>
      <p:font typeface="Clear Sans" charset="1" panose="020B0503030202020304"/>
      <p:regular r:id="rId23"/>
    </p:embeddedFont>
    <p:embeddedFont>
      <p:font typeface="Canva Sans Bold" charset="1" panose="020B0803030501040103"/>
      <p:regular r:id="rId24"/>
    </p:embeddedFont>
    <p:embeddedFont>
      <p:font typeface="Clear Sans Medium" charset="1" panose="020B0603030202020304"/>
      <p:regular r:id="rId25"/>
    </p:embeddedFont>
    <p:embeddedFont>
      <p:font typeface="Clear Sans Bold" charset="1" panose="020B0803030202020304"/>
      <p:regular r:id="rId26"/>
    </p:embeddedFont>
    <p:embeddedFont>
      <p:font typeface="Canva Sans" charset="1" panose="020B0503030501040103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32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817" y="3707673"/>
            <a:ext cx="12733292" cy="6040716"/>
            <a:chOff x="0" y="0"/>
            <a:chExt cx="16977723" cy="805428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33350"/>
              <a:ext cx="16977723" cy="26331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437"/>
                </a:lnSpc>
              </a:pPr>
              <a:r>
                <a:rPr lang="en-US" sz="7437" spc="-148">
                  <a:solidFill>
                    <a:srgbClr val="FFFFFF"/>
                  </a:solidFill>
                  <a:latin typeface="Tenor Sans"/>
                  <a:ea typeface="Tenor Sans"/>
                  <a:cs typeface="Tenor Sans"/>
                  <a:sym typeface="Tenor Sans"/>
                </a:rPr>
                <a:t>Sorghu-Shield: Eco Food Packaging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533629" y="3183831"/>
              <a:ext cx="16444094" cy="48704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32"/>
                </a:lnSpc>
                <a:spcBef>
                  <a:spcPct val="0"/>
                </a:spcBef>
              </a:pPr>
              <a:r>
                <a:rPr lang="en-US" sz="3594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  BATCH NO :-1</a:t>
              </a:r>
              <a:r>
                <a:rPr lang="en-US" sz="3594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</a:t>
              </a:r>
            </a:p>
            <a:p>
              <a:pPr algn="l" marL="0" indent="0" lvl="0">
                <a:lnSpc>
                  <a:spcPts val="5032"/>
                </a:lnSpc>
                <a:spcBef>
                  <a:spcPct val="0"/>
                </a:spcBef>
              </a:pPr>
              <a:r>
                <a:rPr lang="en-US" sz="3594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P.RENUKA (24KB1A3086)</a:t>
              </a:r>
            </a:p>
            <a:p>
              <a:pPr algn="l" marL="0" indent="0" lvl="0">
                <a:lnSpc>
                  <a:spcPts val="5032"/>
                </a:lnSpc>
                <a:spcBef>
                  <a:spcPct val="0"/>
                </a:spcBef>
              </a:pPr>
              <a:r>
                <a:rPr lang="en-US" sz="3594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K.HARSHITHA(24KB1A3046)</a:t>
              </a:r>
            </a:p>
            <a:p>
              <a:pPr algn="l" marL="0" indent="0" lvl="0">
                <a:lnSpc>
                  <a:spcPts val="5032"/>
                </a:lnSpc>
                <a:spcBef>
                  <a:spcPct val="0"/>
                </a:spcBef>
              </a:pPr>
              <a:r>
                <a:rPr lang="en-US" sz="3594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SK.LIMRA(24KB1A3098)</a:t>
              </a:r>
            </a:p>
            <a:p>
              <a:pPr algn="l" marL="0" indent="0" lvl="0">
                <a:lnSpc>
                  <a:spcPts val="5032"/>
                </a:lnSpc>
                <a:spcBef>
                  <a:spcPct val="0"/>
                </a:spcBef>
              </a:pPr>
              <a:r>
                <a:rPr lang="en-US" sz="3594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K.YASASWANI LALITHA(24KB1A3052)</a:t>
              </a:r>
            </a:p>
            <a:p>
              <a:pPr algn="l" marL="0" indent="0" lvl="0">
                <a:lnSpc>
                  <a:spcPts val="3891"/>
                </a:lnSpc>
                <a:spcBef>
                  <a:spcPct val="0"/>
                </a:spcBef>
              </a:pPr>
              <a:r>
                <a:rPr lang="en-US" sz="277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                             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774635" y="7396104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3679543" y="0"/>
            <a:ext cx="4608457" cy="5137939"/>
          </a:xfrm>
          <a:custGeom>
            <a:avLst/>
            <a:gdLst/>
            <a:ahLst/>
            <a:cxnLst/>
            <a:rect r="r" b="b" t="t" l="l"/>
            <a:pathLst>
              <a:path h="5137939" w="4608457">
                <a:moveTo>
                  <a:pt x="0" y="0"/>
                </a:moveTo>
                <a:lnTo>
                  <a:pt x="4608457" y="0"/>
                </a:lnTo>
                <a:lnTo>
                  <a:pt x="4608457" y="5137939"/>
                </a:lnTo>
                <a:lnTo>
                  <a:pt x="0" y="51379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36706"/>
            <a:ext cx="10701093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N.B.K.R.INSTITUTE OF SCIENCE &amp; TECHNOLOGY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32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50568" y="82296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93784" y="500726"/>
            <a:ext cx="8324850" cy="1055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Introduction :-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93784" y="2845477"/>
            <a:ext cx="16838017" cy="6716759"/>
            <a:chOff x="0" y="0"/>
            <a:chExt cx="22450690" cy="895567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76200"/>
              <a:ext cx="15869022" cy="958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155"/>
                </a:lnSpc>
                <a:spcBef>
                  <a:spcPct val="0"/>
                </a:spcBef>
              </a:pPr>
              <a:r>
                <a:rPr lang="en-US" b="true" sz="4396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CONTEXT FOR ECO PACKAGING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607679"/>
              <a:ext cx="22450690" cy="73479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155"/>
                </a:lnSpc>
                <a:spcBef>
                  <a:spcPct val="0"/>
                </a:spcBef>
              </a:pPr>
              <a:r>
                <a:rPr lang="en-US" sz="4396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</a:t>
              </a:r>
              <a:r>
                <a:rPr lang="en-US" b="true" sz="4396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growing plastic pollution problem</a:t>
              </a:r>
              <a:r>
                <a:rPr lang="en-US" sz="4396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necessitates       sustainable solutions. Eco-friendly packaging is vital for the food industry to reduce environmental impact. </a:t>
              </a:r>
            </a:p>
            <a:p>
              <a:pPr algn="l" marL="0" indent="0" lvl="0">
                <a:lnSpc>
                  <a:spcPts val="6448"/>
                </a:lnSpc>
                <a:spcBef>
                  <a:spcPct val="0"/>
                </a:spcBef>
              </a:pPr>
              <a:r>
                <a:rPr lang="en-US" sz="4606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</a:t>
              </a:r>
              <a:r>
                <a:rPr lang="en-US" b="true" sz="4606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Problem Statement</a:t>
              </a:r>
              <a:r>
                <a:rPr lang="en-US" sz="4606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- Plastic causes pollution - Existing packaging fails with hot food - Need eco-friendly solution </a:t>
              </a:r>
            </a:p>
            <a:p>
              <a:pPr algn="l" marL="0" indent="0" lvl="0">
                <a:lnSpc>
                  <a:spcPts val="6301"/>
                </a:lnSpc>
                <a:spcBef>
                  <a:spcPct val="0"/>
                </a:spcBef>
              </a:pPr>
              <a:r>
                <a:rPr lang="en-US" sz="4501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</a:t>
              </a:r>
              <a:r>
                <a:rPr lang="en-US" b="true" sz="4501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Solution / Idea -</a:t>
              </a:r>
              <a:r>
                <a:rPr lang="en-US" sz="4501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Use sweet sorghum bagasse - Biodegradable, strong, leak-proof - Replaces plastic containers 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4476487" y="-412409"/>
            <a:ext cx="3811513" cy="5555909"/>
          </a:xfrm>
          <a:custGeom>
            <a:avLst/>
            <a:gdLst/>
            <a:ahLst/>
            <a:cxnLst/>
            <a:rect r="r" b="b" t="t" l="l"/>
            <a:pathLst>
              <a:path h="5555909" w="3811513">
                <a:moveTo>
                  <a:pt x="0" y="0"/>
                </a:moveTo>
                <a:lnTo>
                  <a:pt x="3811513" y="0"/>
                </a:lnTo>
                <a:lnTo>
                  <a:pt x="3811513" y="5555909"/>
                </a:lnTo>
                <a:lnTo>
                  <a:pt x="0" y="55559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0000"/>
            </a:blip>
            <a:stretch>
              <a:fillRect l="-3329" t="0" r="-3329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32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87176">
            <a:off x="3189187" y="-10712043"/>
            <a:ext cx="14136818" cy="12003443"/>
          </a:xfrm>
          <a:custGeom>
            <a:avLst/>
            <a:gdLst/>
            <a:ahLst/>
            <a:cxnLst/>
            <a:rect r="r" b="b" t="t" l="l"/>
            <a:pathLst>
              <a:path h="12003443" w="14136818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1905000" y="936506"/>
            <a:ext cx="14077950" cy="2111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sz="6999" spc="-139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Challenges with Current Packaging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3803432"/>
            <a:ext cx="5448300" cy="4861665"/>
            <a:chOff x="0" y="0"/>
            <a:chExt cx="7264400" cy="648221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76200"/>
              <a:ext cx="7264400" cy="858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459"/>
                </a:lnSpc>
                <a:spcBef>
                  <a:spcPct val="0"/>
                </a:spcBef>
              </a:pPr>
              <a:r>
                <a:rPr lang="en-US" b="true" sz="3899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PLASTIC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422419"/>
              <a:ext cx="7264400" cy="5059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035"/>
                </a:lnSpc>
                <a:spcBef>
                  <a:spcPct val="0"/>
                </a:spcBef>
              </a:pPr>
              <a:r>
                <a:rPr lang="en-US" sz="3596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Plastic materials cause severe </a:t>
              </a:r>
              <a:r>
                <a:rPr lang="en-US" b="true" sz="3596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environmental damage</a:t>
              </a:r>
              <a:r>
                <a:rPr lang="en-US" sz="3596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contributing to pollution and harming wildlife in ecosystems around the world.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034949" y="4593423"/>
            <a:ext cx="5448300" cy="4989935"/>
            <a:chOff x="0" y="0"/>
            <a:chExt cx="7264400" cy="6653246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76200"/>
              <a:ext cx="7264400" cy="8805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599"/>
                </a:lnSpc>
                <a:spcBef>
                  <a:spcPct val="0"/>
                </a:spcBef>
              </a:pPr>
              <a:r>
                <a:rPr lang="en-US" b="true" sz="3999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PAPER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453958"/>
              <a:ext cx="7264400" cy="51992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175"/>
                </a:lnSpc>
                <a:spcBef>
                  <a:spcPct val="0"/>
                </a:spcBef>
              </a:pPr>
              <a:r>
                <a:rPr lang="en-US" sz="3696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Traditional paper products often </a:t>
              </a:r>
              <a:r>
                <a:rPr lang="en-US" b="true" sz="3696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leak</a:t>
              </a:r>
              <a:r>
                <a:rPr lang="en-US" sz="3696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when used with hot food, limiting their usability and effectiveness in the food industry.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454799" y="5672351"/>
            <a:ext cx="5448300" cy="4614649"/>
            <a:chOff x="0" y="0"/>
            <a:chExt cx="7264400" cy="6152866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66675"/>
              <a:ext cx="7264400" cy="817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179"/>
                </a:lnSpc>
                <a:spcBef>
                  <a:spcPct val="0"/>
                </a:spcBef>
              </a:pPr>
              <a:r>
                <a:rPr lang="en-US" b="true" sz="3699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ALTERNATIVES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400618"/>
              <a:ext cx="7264400" cy="475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755"/>
                </a:lnSpc>
                <a:spcBef>
                  <a:spcPct val="0"/>
                </a:spcBef>
              </a:pPr>
              <a:r>
                <a:rPr lang="en-US" sz="3396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There is a significant </a:t>
              </a:r>
              <a:r>
                <a:rPr lang="en-US" b="true" sz="3396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lack of strong</a:t>
              </a:r>
              <a:r>
                <a:rPr lang="en-US" sz="3396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biodegradable alternatives in the market, creating a need for innovative packaging solutions.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2069898" y="0"/>
            <a:ext cx="6218102" cy="5250904"/>
          </a:xfrm>
          <a:custGeom>
            <a:avLst/>
            <a:gdLst/>
            <a:ahLst/>
            <a:cxnLst/>
            <a:rect r="r" b="b" t="t" l="l"/>
            <a:pathLst>
              <a:path h="5250904" w="6218102">
                <a:moveTo>
                  <a:pt x="0" y="0"/>
                </a:moveTo>
                <a:lnTo>
                  <a:pt x="6218102" y="0"/>
                </a:lnTo>
                <a:lnTo>
                  <a:pt x="6218102" y="5250904"/>
                </a:lnTo>
                <a:lnTo>
                  <a:pt x="0" y="52509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7933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32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24120" y="2529135"/>
            <a:ext cx="9463880" cy="6172200"/>
          </a:xfrm>
          <a:custGeom>
            <a:avLst/>
            <a:gdLst/>
            <a:ahLst/>
            <a:cxnLst/>
            <a:rect r="r" b="b" t="t" l="l"/>
            <a:pathLst>
              <a:path h="6172200" w="9463880">
                <a:moveTo>
                  <a:pt x="0" y="0"/>
                </a:moveTo>
                <a:lnTo>
                  <a:pt x="9463880" y="0"/>
                </a:lnTo>
                <a:lnTo>
                  <a:pt x="946388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92" r="0" b="-203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16843" y="618483"/>
            <a:ext cx="17654313" cy="7901121"/>
            <a:chOff x="0" y="0"/>
            <a:chExt cx="23539084" cy="1053482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3628217"/>
              <a:ext cx="10383916" cy="7736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99"/>
                </a:lnSpc>
                <a:spcBef>
                  <a:spcPct val="0"/>
                </a:spcBef>
              </a:pPr>
              <a:r>
                <a:rPr lang="en-US" b="true" sz="3499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ECO-FRIENDLY AND BIODEGRADABLE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339361" y="5038560"/>
              <a:ext cx="10044555" cy="54962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498"/>
                </a:lnSpc>
                <a:spcBef>
                  <a:spcPct val="0"/>
                </a:spcBef>
              </a:pPr>
              <a:r>
                <a:rPr lang="en-US" sz="3927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Sorghu-Shield utilizes </a:t>
              </a:r>
              <a:r>
                <a:rPr lang="en-US" b="true" sz="3927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sweet sorghum bagasse</a:t>
              </a:r>
              <a:r>
                <a:rPr lang="en-US" sz="3927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to create strong, leak-proof containers, offering a sustainable alternative to conventional plastic packaging.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19050"/>
              <a:ext cx="23539084" cy="2457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200"/>
                </a:lnSpc>
              </a:pPr>
              <a:r>
                <a:rPr lang="en-US" sz="6000" spc="-120">
                  <a:solidFill>
                    <a:srgbClr val="FFFFFF"/>
                  </a:solidFill>
                  <a:latin typeface="Tenor Sans"/>
                  <a:ea typeface="Tenor Sans"/>
                  <a:cs typeface="Tenor Sans"/>
                  <a:sym typeface="Tenor Sans"/>
                </a:rPr>
                <a:t>Introducing Sorghu-Shield: Sustainable Packaging Solution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32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87176">
            <a:off x="3189187" y="-10712043"/>
            <a:ext cx="14136818" cy="12003443"/>
          </a:xfrm>
          <a:custGeom>
            <a:avLst/>
            <a:gdLst/>
            <a:ahLst/>
            <a:cxnLst/>
            <a:rect r="r" b="b" t="t" l="l"/>
            <a:pathLst>
              <a:path h="12003443" w="14136818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05025" y="1562100"/>
            <a:ext cx="14077950" cy="1055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sz="6999" spc="-139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Unique Features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23850" y="2618048"/>
            <a:ext cx="5448300" cy="5607064"/>
            <a:chOff x="0" y="0"/>
            <a:chExt cx="7264400" cy="7476085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66675"/>
              <a:ext cx="7264400" cy="8176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179"/>
                </a:lnSpc>
                <a:spcBef>
                  <a:spcPct val="0"/>
                </a:spcBef>
              </a:pPr>
              <a:r>
                <a:rPr lang="en-US" b="true" sz="3699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INNOVATION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400616"/>
              <a:ext cx="7264400" cy="60754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179"/>
                </a:lnSpc>
                <a:spcBef>
                  <a:spcPct val="0"/>
                </a:spcBef>
              </a:pPr>
              <a:r>
                <a:rPr lang="en-US" sz="36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Sorghu-Shield represents </a:t>
              </a:r>
              <a:r>
                <a:rPr lang="en-US" b="true" sz="3699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novel innovation</a:t>
              </a:r>
              <a:r>
                <a:rPr lang="en-US" sz="36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in eco-packaging through the use of sustainable sorghum fiber, reducing reliance on traditional materials.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419850" y="3256184"/>
            <a:ext cx="5448300" cy="6264289"/>
            <a:chOff x="0" y="0"/>
            <a:chExt cx="7264400" cy="8352385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66675"/>
              <a:ext cx="7264400" cy="8176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179"/>
                </a:lnSpc>
                <a:spcBef>
                  <a:spcPct val="0"/>
                </a:spcBef>
              </a:pPr>
              <a:r>
                <a:rPr lang="en-US" b="true" sz="3699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TECHNOLOGY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400616"/>
              <a:ext cx="7264400" cy="69517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179"/>
                </a:lnSpc>
                <a:spcBef>
                  <a:spcPct val="0"/>
                </a:spcBef>
              </a:pPr>
              <a:r>
                <a:rPr lang="en-US" sz="36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application of </a:t>
              </a:r>
              <a:r>
                <a:rPr lang="en-US" b="true" sz="3699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high-temperature hot pressing technology</a:t>
              </a:r>
              <a:r>
                <a:rPr lang="en-US" sz="36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enhances the strength and durability of packaging, ensuring it meets food safety standards.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515850" y="2618009"/>
            <a:ext cx="5448300" cy="6097919"/>
            <a:chOff x="0" y="0"/>
            <a:chExt cx="7264400" cy="8130558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76200"/>
              <a:ext cx="7264400" cy="805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040"/>
                </a:lnSpc>
                <a:spcBef>
                  <a:spcPct val="0"/>
                </a:spcBef>
              </a:pPr>
              <a:r>
                <a:rPr lang="en-US" b="true" sz="3600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BIODEGRADABILITY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369078"/>
              <a:ext cx="7264400" cy="6761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04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Fully </a:t>
              </a:r>
              <a:r>
                <a:rPr lang="en-US" b="true" sz="3600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biodegradable and compostable</a:t>
              </a:r>
              <a:r>
                <a:rPr lang="en-US" sz="36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Sorghu-Shield packaging contributes to a sustainable waste management system, supporting environmental goals effectively.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32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6411473" cy="6297098"/>
          </a:xfrm>
          <a:custGeom>
            <a:avLst/>
            <a:gdLst/>
            <a:ahLst/>
            <a:cxnLst/>
            <a:rect r="r" b="b" t="t" l="l"/>
            <a:pathLst>
              <a:path h="6297098" w="6411473">
                <a:moveTo>
                  <a:pt x="0" y="0"/>
                </a:moveTo>
                <a:lnTo>
                  <a:pt x="6411473" y="0"/>
                </a:lnTo>
                <a:lnTo>
                  <a:pt x="6411473" y="6297098"/>
                </a:lnTo>
                <a:lnTo>
                  <a:pt x="0" y="62970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16" t="0" r="-916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93664" y="6297098"/>
            <a:ext cx="11094336" cy="3858900"/>
          </a:xfrm>
          <a:custGeom>
            <a:avLst/>
            <a:gdLst/>
            <a:ahLst/>
            <a:cxnLst/>
            <a:rect r="r" b="b" t="t" l="l"/>
            <a:pathLst>
              <a:path h="3858900" w="11094336">
                <a:moveTo>
                  <a:pt x="0" y="0"/>
                </a:moveTo>
                <a:lnTo>
                  <a:pt x="11094336" y="0"/>
                </a:lnTo>
                <a:lnTo>
                  <a:pt x="11094336" y="3858900"/>
                </a:lnTo>
                <a:lnTo>
                  <a:pt x="0" y="3858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63385" y="323109"/>
            <a:ext cx="11531439" cy="5650881"/>
            <a:chOff x="0" y="0"/>
            <a:chExt cx="15375252" cy="753450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5035186" cy="1520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999"/>
                </a:lnSpc>
              </a:pPr>
              <a:r>
                <a:rPr lang="en-US" sz="7499" spc="-149">
                  <a:solidFill>
                    <a:srgbClr val="FFFFFF"/>
                  </a:solidFill>
                  <a:latin typeface="Tenor Sans"/>
                  <a:ea typeface="Tenor Sans"/>
                  <a:cs typeface="Tenor Sans"/>
                  <a:sym typeface="Tenor Sans"/>
                </a:rPr>
                <a:t>Sweet Sorghum Stalk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057983" y="2146300"/>
              <a:ext cx="14317269" cy="1915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879"/>
                </a:lnSpc>
                <a:spcBef>
                  <a:spcPct val="0"/>
                </a:spcBef>
              </a:pPr>
              <a:r>
                <a:rPr lang="en-US" b="true" sz="4199" strike="noStrike" u="none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STRONG AND SUSTAINABLE RAW MATERIAL SOURCE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057983" y="4701560"/>
              <a:ext cx="14317269" cy="28329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739"/>
                </a:lnSpc>
                <a:spcBef>
                  <a:spcPct val="0"/>
                </a:spcBef>
              </a:pPr>
              <a:r>
                <a:rPr lang="en-US" sz="4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outer stalk of sweet sorghum is a </a:t>
              </a:r>
              <a:r>
                <a:rPr lang="en-US" b="true" sz="4099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robust fiber source</a:t>
              </a:r>
              <a:r>
                <a:rPr lang="en-US" sz="4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ideal for eco-friendly packaging. With a </a:t>
              </a:r>
              <a:r>
                <a:rPr lang="en-US" b="true" sz="4099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growth cycle</a:t>
              </a:r>
              <a:r>
                <a:rPr lang="en-US" sz="4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of 120–135 days, 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0" y="6494998"/>
            <a:ext cx="7129291" cy="306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requires mo</a:t>
            </a:r>
            <a:r>
              <a:rPr lang="en-US" sz="3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derate water supply, making it suitable for regions like Andhra Pradesh, where its availability aligns with local agricultural practices.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32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4171923"/>
            <a:ext cx="4007657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 strike="noStrike" u="none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MATERIAL SOURCING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422218" y="4124298"/>
            <a:ext cx="513524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b="true" sz="3199" strike="noStrike" u="none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CLEANING PROCESS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6723923">
            <a:off x="13666568" y="-2297777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669118" y="5972175"/>
            <a:ext cx="4007657" cy="2454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9"/>
              </a:lnSpc>
              <a:spcBef>
                <a:spcPct val="0"/>
              </a:spcBef>
            </a:pPr>
            <a:r>
              <a:rPr lang="en-US" sz="3499" strike="noStrike" u="none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Sourcing sweet sorghum for sustainable production.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22218" y="5972175"/>
            <a:ext cx="4007657" cy="1835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9"/>
              </a:lnSpc>
              <a:spcBef>
                <a:spcPct val="0"/>
              </a:spcBef>
            </a:pPr>
            <a:r>
              <a:rPr lang="en-US" sz="3499" strike="noStrike" u="none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Thoroughly cleaning sorghum to ensure quality.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6750" y="1562100"/>
            <a:ext cx="15516225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 spc="-139" strike="noStrike" u="none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Manufacturing Process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750081" y="5143500"/>
            <a:ext cx="17850263" cy="0"/>
          </a:xfrm>
          <a:prstGeom prst="line">
            <a:avLst/>
          </a:prstGeom>
          <a:ln cap="flat" w="19050">
            <a:solidFill>
              <a:srgbClr val="F6F4E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669118" y="5062538"/>
            <a:ext cx="161925" cy="161925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6F4ED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422218" y="5062538"/>
            <a:ext cx="161925" cy="161925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6F4ED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175318" y="5062538"/>
            <a:ext cx="161925" cy="161925"/>
            <a:chOff x="0" y="0"/>
            <a:chExt cx="6350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6F4ED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175318" y="4143348"/>
            <a:ext cx="508398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19"/>
              </a:lnSpc>
              <a:spcBef>
                <a:spcPct val="0"/>
              </a:spcBef>
            </a:pPr>
            <a:r>
              <a:rPr lang="en-US" b="true" sz="3099" strike="noStrike" u="none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PACKAGING FORMATION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175318" y="5962650"/>
            <a:ext cx="4007657" cy="2537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9"/>
              </a:lnSpc>
              <a:spcBef>
                <a:spcPct val="0"/>
              </a:spcBef>
            </a:pPr>
            <a:r>
              <a:rPr lang="en-US" sz="3599" strike="noStrike" u="none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Molding and shaping into final product containers.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532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4058" y="294968"/>
            <a:ext cx="10995447" cy="9649762"/>
            <a:chOff x="0" y="0"/>
            <a:chExt cx="14660596" cy="1286634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2897604"/>
              <a:ext cx="13017500" cy="751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b="true" sz="3399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UNDERSTANDING THE PRODUCTION PROCESS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001658"/>
              <a:ext cx="13017500" cy="8864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377"/>
                </a:lnSpc>
                <a:spcBef>
                  <a:spcPct val="0"/>
                </a:spcBef>
              </a:pPr>
              <a:r>
                <a:rPr lang="en-US" sz="3841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manufacturing process includes pulping, forming, hot pressing, and sterilization, ensuring that our containers remain safe and durable for all food types.</a:t>
              </a:r>
            </a:p>
            <a:p>
              <a:pPr algn="l" marL="0" indent="0" lvl="0">
                <a:lnSpc>
                  <a:spcPts val="5377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5377"/>
                </a:lnSpc>
                <a:spcBef>
                  <a:spcPct val="0"/>
                </a:spcBef>
              </a:pPr>
              <a:r>
                <a:rPr lang="en-US" sz="3841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Pulping: fiber + water mix</a:t>
              </a:r>
            </a:p>
            <a:p>
              <a:pPr algn="l" marL="0" indent="0" lvl="0">
                <a:lnSpc>
                  <a:spcPts val="4817"/>
                </a:lnSpc>
                <a:spcBef>
                  <a:spcPct val="0"/>
                </a:spcBef>
              </a:pPr>
              <a:r>
                <a:rPr lang="en-US" sz="3441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- Forming: shape creation</a:t>
              </a:r>
            </a:p>
            <a:p>
              <a:pPr algn="l" marL="0" indent="0" lvl="0">
                <a:lnSpc>
                  <a:spcPts val="5377"/>
                </a:lnSpc>
                <a:spcBef>
                  <a:spcPct val="0"/>
                </a:spcBef>
              </a:pPr>
              <a:r>
                <a:rPr lang="en-US" sz="3841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- Hot pressing: strength</a:t>
              </a:r>
            </a:p>
            <a:p>
              <a:pPr algn="l" marL="0" indent="0" lvl="0">
                <a:lnSpc>
                  <a:spcPts val="5377"/>
                </a:lnSpc>
                <a:spcBef>
                  <a:spcPct val="0"/>
                </a:spcBef>
              </a:pPr>
              <a:r>
                <a:rPr lang="en-US" sz="3841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- Sterilization: food safety</a:t>
              </a:r>
            </a:p>
            <a:p>
              <a:pPr algn="l" marL="0" indent="0" lvl="0">
                <a:lnSpc>
                  <a:spcPts val="5377"/>
                </a:lnSpc>
                <a:spcBef>
                  <a:spcPct val="0"/>
                </a:spcBef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19050"/>
              <a:ext cx="14660596" cy="2559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560"/>
                </a:lnSpc>
              </a:pPr>
              <a:r>
                <a:rPr lang="en-US" sz="6300" spc="-126">
                  <a:solidFill>
                    <a:srgbClr val="FFFFFF"/>
                  </a:solidFill>
                  <a:latin typeface="Tenor Sans"/>
                  <a:ea typeface="Tenor Sans"/>
                  <a:cs typeface="Tenor Sans"/>
                  <a:sym typeface="Tenor Sans"/>
                </a:rPr>
                <a:t>Key Manufacturing Steps of Sorghu-Shield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280064" y="237818"/>
            <a:ext cx="10007936" cy="10942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5"/>
              </a:lnSpc>
            </a:pPr>
            <a:r>
              <a:rPr lang="en-US" sz="27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1. Raw Material Collection</a:t>
            </a:r>
          </a:p>
          <a:p>
            <a:pPr algn="ctr">
              <a:lnSpc>
                <a:spcPts val="3785"/>
              </a:lnSpc>
            </a:pPr>
            <a:r>
              <a:rPr lang="en-US" sz="27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↓</a:t>
            </a:r>
          </a:p>
          <a:p>
            <a:pPr algn="ctr">
              <a:lnSpc>
                <a:spcPts val="3785"/>
              </a:lnSpc>
            </a:pPr>
            <a:r>
              <a:rPr lang="en-US" sz="27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2. Cleaning &amp; Drying</a:t>
            </a:r>
          </a:p>
          <a:p>
            <a:pPr algn="ctr">
              <a:lnSpc>
                <a:spcPts val="3785"/>
              </a:lnSpc>
            </a:pPr>
            <a:r>
              <a:rPr lang="en-US" sz="27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↓</a:t>
            </a:r>
          </a:p>
          <a:p>
            <a:pPr algn="ctr">
              <a:lnSpc>
                <a:spcPts val="3785"/>
              </a:lnSpc>
            </a:pPr>
            <a:r>
              <a:rPr lang="en-US" sz="27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3. Crushing / Size Reduction</a:t>
            </a:r>
          </a:p>
          <a:p>
            <a:pPr algn="ctr">
              <a:lnSpc>
                <a:spcPts val="3785"/>
              </a:lnSpc>
            </a:pPr>
            <a:r>
              <a:rPr lang="en-US" sz="27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↓</a:t>
            </a:r>
          </a:p>
          <a:p>
            <a:pPr algn="ctr">
              <a:lnSpc>
                <a:spcPts val="3785"/>
              </a:lnSpc>
            </a:pPr>
            <a:r>
              <a:rPr lang="en-US" sz="27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4. Pulping (Fiber + Water Mixing)</a:t>
            </a:r>
          </a:p>
          <a:p>
            <a:pPr algn="ctr">
              <a:lnSpc>
                <a:spcPts val="3785"/>
              </a:lnSpc>
            </a:pPr>
            <a:r>
              <a:rPr lang="en-US" sz="27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↓</a:t>
            </a:r>
          </a:p>
          <a:p>
            <a:pPr algn="ctr">
              <a:lnSpc>
                <a:spcPts val="3785"/>
              </a:lnSpc>
            </a:pPr>
            <a:r>
              <a:rPr lang="en-US" sz="27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5. Screening &amp; Refining</a:t>
            </a:r>
          </a:p>
          <a:p>
            <a:pPr algn="ctr">
              <a:lnSpc>
                <a:spcPts val="3785"/>
              </a:lnSpc>
            </a:pPr>
            <a:r>
              <a:rPr lang="en-US" sz="27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↓</a:t>
            </a:r>
          </a:p>
          <a:p>
            <a:pPr algn="ctr">
              <a:lnSpc>
                <a:spcPts val="3785"/>
              </a:lnSpc>
            </a:pPr>
            <a:r>
              <a:rPr lang="en-US" sz="27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6. Molding / Forming (Shape Creation)</a:t>
            </a:r>
          </a:p>
          <a:p>
            <a:pPr algn="ctr">
              <a:lnSpc>
                <a:spcPts val="3785"/>
              </a:lnSpc>
            </a:pPr>
            <a:r>
              <a:rPr lang="en-US" sz="27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↓</a:t>
            </a:r>
          </a:p>
          <a:p>
            <a:pPr algn="ctr">
              <a:lnSpc>
                <a:spcPts val="3785"/>
              </a:lnSpc>
            </a:pPr>
            <a:r>
              <a:rPr lang="en-US" sz="27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7. Vacuum Dewatering</a:t>
            </a:r>
          </a:p>
          <a:p>
            <a:pPr algn="ctr">
              <a:lnSpc>
                <a:spcPts val="3785"/>
              </a:lnSpc>
            </a:pPr>
            <a:r>
              <a:rPr lang="en-US" sz="27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↓</a:t>
            </a:r>
          </a:p>
          <a:p>
            <a:pPr algn="ctr">
              <a:lnSpc>
                <a:spcPts val="3785"/>
              </a:lnSpc>
            </a:pPr>
            <a:r>
              <a:rPr lang="en-US" sz="27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8. Hot Pressing (High Temperature &amp; Pressure)</a:t>
            </a:r>
          </a:p>
          <a:p>
            <a:pPr algn="ctr">
              <a:lnSpc>
                <a:spcPts val="3785"/>
              </a:lnSpc>
            </a:pPr>
            <a:r>
              <a:rPr lang="en-US" sz="27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↓</a:t>
            </a:r>
          </a:p>
          <a:p>
            <a:pPr algn="ctr">
              <a:lnSpc>
                <a:spcPts val="3785"/>
              </a:lnSpc>
            </a:pPr>
            <a:r>
              <a:rPr lang="en-US" sz="27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9. Trimming &amp; Finishing</a:t>
            </a:r>
          </a:p>
          <a:p>
            <a:pPr algn="ctr">
              <a:lnSpc>
                <a:spcPts val="3785"/>
              </a:lnSpc>
            </a:pPr>
            <a:r>
              <a:rPr lang="en-US" sz="27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↓</a:t>
            </a:r>
          </a:p>
          <a:p>
            <a:pPr algn="ctr">
              <a:lnSpc>
                <a:spcPts val="3785"/>
              </a:lnSpc>
            </a:pPr>
            <a:r>
              <a:rPr lang="en-US" sz="27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10. Sterilization (Heat / UV Treatment)</a:t>
            </a:r>
          </a:p>
          <a:p>
            <a:pPr algn="ctr">
              <a:lnSpc>
                <a:spcPts val="3785"/>
              </a:lnSpc>
            </a:pPr>
            <a:r>
              <a:rPr lang="en-US" sz="27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↓</a:t>
            </a:r>
          </a:p>
          <a:p>
            <a:pPr algn="ctr">
              <a:lnSpc>
                <a:spcPts val="3785"/>
              </a:lnSpc>
            </a:pPr>
            <a:r>
              <a:rPr lang="en-US" sz="27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11. Quality Checking</a:t>
            </a:r>
          </a:p>
          <a:p>
            <a:pPr algn="ctr">
              <a:lnSpc>
                <a:spcPts val="3785"/>
              </a:lnSpc>
            </a:pPr>
            <a:r>
              <a:rPr lang="en-US" sz="27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↓</a:t>
            </a:r>
          </a:p>
          <a:p>
            <a:pPr algn="ctr">
              <a:lnSpc>
                <a:spcPts val="3785"/>
              </a:lnSpc>
            </a:pPr>
            <a:r>
              <a:rPr lang="en-US" sz="27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12. Packing &amp; Storage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D4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20" r="0" b="-14074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32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87176">
            <a:off x="3189187" y="-10712043"/>
            <a:ext cx="14136818" cy="12003443"/>
          </a:xfrm>
          <a:custGeom>
            <a:avLst/>
            <a:gdLst/>
            <a:ahLst/>
            <a:cxnLst/>
            <a:rect r="r" b="b" t="t" l="l"/>
            <a:pathLst>
              <a:path h="12003443" w="14136818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784506"/>
            <a:ext cx="14077950" cy="1055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sz="6999" spc="-139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Advantages of Sorghu-Shield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85750" y="2308447"/>
            <a:ext cx="5448300" cy="5352519"/>
            <a:chOff x="0" y="0"/>
            <a:chExt cx="7264400" cy="713669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76200"/>
              <a:ext cx="7264400" cy="836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319"/>
                </a:lnSpc>
                <a:spcBef>
                  <a:spcPct val="0"/>
                </a:spcBef>
              </a:pPr>
              <a:r>
                <a:rPr lang="en-US" b="true" sz="3799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ECO-FRIENDLY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409931"/>
              <a:ext cx="7264400" cy="57267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895"/>
                </a:lnSpc>
                <a:spcBef>
                  <a:spcPct val="0"/>
                </a:spcBef>
              </a:pPr>
              <a:r>
                <a:rPr lang="en-US" sz="3496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Sorghu-Shield is made from </a:t>
              </a:r>
              <a:r>
                <a:rPr lang="en-US" b="true" sz="3496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renewable materials</a:t>
              </a:r>
              <a:r>
                <a:rPr lang="en-US" sz="3496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ensuring a minimal environmental footprint and supporting sustainable practices in food packaging.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419850" y="2618009"/>
            <a:ext cx="5448300" cy="4733394"/>
            <a:chOff x="0" y="0"/>
            <a:chExt cx="7264400" cy="6311193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76200"/>
              <a:ext cx="7264400" cy="836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319"/>
                </a:lnSpc>
                <a:spcBef>
                  <a:spcPct val="0"/>
                </a:spcBef>
              </a:pPr>
              <a:r>
                <a:rPr lang="en-US" b="true" sz="3799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LEAK-PROOF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409931"/>
              <a:ext cx="7264400" cy="4901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895"/>
                </a:lnSpc>
                <a:spcBef>
                  <a:spcPct val="0"/>
                </a:spcBef>
              </a:pPr>
              <a:r>
                <a:rPr lang="en-US" sz="3496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Designed to be </a:t>
              </a:r>
              <a:r>
                <a:rPr lang="en-US" b="true" sz="3496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leak-proof</a:t>
              </a:r>
              <a:r>
                <a:rPr lang="en-US" sz="3496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Sorghu-Shield containers can hold hot, liquid foods without compromising integrity, ensuring customer satisfaction.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553950" y="2618009"/>
            <a:ext cx="5448300" cy="5214724"/>
            <a:chOff x="0" y="0"/>
            <a:chExt cx="7264400" cy="6952966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66675"/>
              <a:ext cx="7264400" cy="817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179"/>
                </a:lnSpc>
                <a:spcBef>
                  <a:spcPct val="0"/>
                </a:spcBef>
              </a:pPr>
              <a:r>
                <a:rPr lang="en-US" b="true" sz="3699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COST-EFFECTIVE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400618"/>
              <a:ext cx="7264400" cy="5552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755"/>
                </a:lnSpc>
                <a:spcBef>
                  <a:spcPct val="0"/>
                </a:spcBef>
              </a:pPr>
              <a:r>
                <a:rPr lang="en-US" sz="3396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With a production cost of </a:t>
              </a:r>
              <a:r>
                <a:rPr lang="en-US" b="true" sz="3396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₹1.90 per box</a:t>
              </a:r>
              <a:r>
                <a:rPr lang="en-US" sz="3396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Sorghu-Shield offers a budget-friendly alternative to traditional packaging options, enhancing profitability.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32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72950" y="0"/>
            <a:ext cx="6115050" cy="10287000"/>
            <a:chOff x="0" y="0"/>
            <a:chExt cx="94738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34112" t="0" r="-3411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0717" y="793488"/>
            <a:ext cx="11952233" cy="6660273"/>
            <a:chOff x="0" y="0"/>
            <a:chExt cx="15936310" cy="888036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3329689"/>
              <a:ext cx="15936310" cy="817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179"/>
                </a:lnSpc>
                <a:spcBef>
                  <a:spcPct val="0"/>
                </a:spcBef>
              </a:pPr>
              <a:r>
                <a:rPr lang="en-US" b="true" sz="3699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MATERIAL STRENGTH AND ENVIRONMENTAL IMPACT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787456"/>
              <a:ext cx="15936310" cy="40929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155"/>
                </a:lnSpc>
                <a:spcBef>
                  <a:spcPct val="0"/>
                </a:spcBef>
              </a:pPr>
              <a:r>
                <a:rPr lang="en-US" sz="4396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Sorghu-Shield packaging outperforms traditional materials like plastic and paper in strength, leak-proof capabilities, and eco-friendliness while being cost-effective.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9525"/>
              <a:ext cx="15936310" cy="2854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50"/>
                </a:lnSpc>
              </a:pPr>
              <a:r>
                <a:rPr lang="en-US" sz="7042" spc="-140">
                  <a:solidFill>
                    <a:srgbClr val="FFFFFF"/>
                  </a:solidFill>
                  <a:latin typeface="Tenor Sans"/>
                  <a:ea typeface="Tenor Sans"/>
                  <a:cs typeface="Tenor Sans"/>
                  <a:sym typeface="Tenor Sans"/>
                </a:rPr>
                <a:t>Comparing Sorghum Packaging with Alternatives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32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163243" y="-738614"/>
            <a:ext cx="8863372" cy="7678957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1913804" y="6419522"/>
            <a:ext cx="6057900" cy="76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14"/>
              </a:lnSpc>
            </a:pPr>
            <a:r>
              <a:rPr lang="en-US" sz="2076" spc="-2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Cost Comparison of Sorghum Packaging Against Alternatives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56847" y="206266"/>
            <a:ext cx="8324850" cy="7824837"/>
            <a:chOff x="0" y="0"/>
            <a:chExt cx="11099800" cy="1043311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3670300"/>
              <a:ext cx="11099800" cy="67628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810"/>
                </a:lnSpc>
                <a:spcBef>
                  <a:spcPct val="0"/>
                </a:spcBef>
              </a:pPr>
              <a:r>
                <a:rPr lang="en-US" sz="3873" spc="-77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chart illustrates the </a:t>
              </a:r>
              <a:r>
                <a:rPr lang="en-US" b="true" sz="3873" spc="-77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cost-effectiveness</a:t>
              </a:r>
              <a:r>
                <a:rPr lang="en-US" sz="3873" spc="-77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of Sorghu-Shield packaging compared to alternatives. Sorghu-Shield emerges as the </a:t>
              </a:r>
              <a:r>
                <a:rPr lang="en-US" b="true" sz="3873" spc="-77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most affordable</a:t>
              </a:r>
              <a:r>
                <a:rPr lang="en-US" sz="3873" spc="-77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option, promoting sustainability without compromising quality.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9525"/>
              <a:ext cx="11099800" cy="303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999"/>
                </a:lnSpc>
              </a:pPr>
              <a:r>
                <a:rPr lang="en-US" sz="7499" spc="-149">
                  <a:solidFill>
                    <a:srgbClr val="FFFFFF"/>
                  </a:solidFill>
                  <a:latin typeface="Tenor Sans"/>
                  <a:ea typeface="Tenor Sans"/>
                  <a:cs typeface="Tenor Sans"/>
                  <a:sym typeface="Tenor Sans"/>
                </a:rPr>
                <a:t>Cost Comparison of Eco Packaging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32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87176">
            <a:off x="3189187" y="-10712043"/>
            <a:ext cx="14136818" cy="12003443"/>
          </a:xfrm>
          <a:custGeom>
            <a:avLst/>
            <a:gdLst/>
            <a:ahLst/>
            <a:cxnLst/>
            <a:rect r="r" b="b" t="t" l="l"/>
            <a:pathLst>
              <a:path h="12003443" w="14136818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619125" y="1028700"/>
            <a:ext cx="14077950" cy="1055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sz="6999" spc="-139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Waste Management Insights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3276869"/>
            <a:ext cx="6196834" cy="3001749"/>
            <a:chOff x="0" y="0"/>
            <a:chExt cx="8262445" cy="4002332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57150"/>
              <a:ext cx="8262445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479"/>
                </a:lnSpc>
                <a:spcBef>
                  <a:spcPct val="0"/>
                </a:spcBef>
              </a:pPr>
              <a:r>
                <a:rPr lang="en-US" b="true" sz="3199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WASTE GENERATION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300075"/>
              <a:ext cx="8262445" cy="2702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055"/>
                </a:lnSpc>
                <a:spcBef>
                  <a:spcPct val="0"/>
                </a:spcBef>
              </a:pPr>
              <a:r>
                <a:rPr lang="en-US" sz="2896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Our process generates only </a:t>
              </a:r>
              <a:r>
                <a:rPr lang="en-US" b="true" sz="2896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8–15% waste</a:t>
              </a:r>
              <a:r>
                <a:rPr lang="en-US" sz="2896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making it an efficient option for eco-friendly production without compromising on quality.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419850" y="5143500"/>
            <a:ext cx="5448300" cy="3796134"/>
            <a:chOff x="0" y="0"/>
            <a:chExt cx="7264400" cy="5061512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66675"/>
              <a:ext cx="7264400" cy="7736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899"/>
                </a:lnSpc>
                <a:spcBef>
                  <a:spcPct val="0"/>
                </a:spcBef>
              </a:pPr>
              <a:r>
                <a:rPr lang="en-US" b="true" sz="3499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RECYCLING RATE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366116"/>
              <a:ext cx="7264400" cy="36953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475"/>
                </a:lnSpc>
                <a:spcBef>
                  <a:spcPct val="0"/>
                </a:spcBef>
              </a:pPr>
              <a:r>
                <a:rPr lang="en-US" sz="3196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With a </a:t>
              </a:r>
              <a:r>
                <a:rPr lang="en-US" b="true" sz="3196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90–95% recycling rate</a:t>
              </a:r>
              <a:r>
                <a:rPr lang="en-US" sz="3196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we ensure that most of our materials are repurposed, significantly reducing environmental impact.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582853" y="5364217"/>
            <a:ext cx="5448300" cy="4358109"/>
            <a:chOff x="0" y="0"/>
            <a:chExt cx="7264400" cy="5810812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66675"/>
              <a:ext cx="7264400" cy="7736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899"/>
                </a:lnSpc>
                <a:spcBef>
                  <a:spcPct val="0"/>
                </a:spcBef>
              </a:pPr>
              <a:r>
                <a:rPr lang="en-US" b="true" sz="3499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WATER REUSE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366116"/>
              <a:ext cx="7264400" cy="4444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475"/>
                </a:lnSpc>
                <a:spcBef>
                  <a:spcPct val="0"/>
                </a:spcBef>
              </a:pPr>
              <a:r>
                <a:rPr lang="en-US" sz="3196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We implement a </a:t>
              </a:r>
              <a:r>
                <a:rPr lang="en-US" b="true" sz="3196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water reuse strategy</a:t>
              </a:r>
              <a:r>
                <a:rPr lang="en-US" sz="3196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allowing us to recycle water within the production process, conserving this vital resource effectively.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32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115050" cy="10287000"/>
            <a:chOff x="0" y="0"/>
            <a:chExt cx="757905" cy="12749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7905" cy="1274980"/>
            </a:xfrm>
            <a:custGeom>
              <a:avLst/>
              <a:gdLst/>
              <a:ahLst/>
              <a:cxnLst/>
              <a:rect r="r" b="b" t="t" l="l"/>
              <a:pathLst>
                <a:path h="1274980" w="757905">
                  <a:moveTo>
                    <a:pt x="0" y="0"/>
                  </a:moveTo>
                  <a:lnTo>
                    <a:pt x="757905" y="0"/>
                  </a:lnTo>
                  <a:lnTo>
                    <a:pt x="757905" y="1274980"/>
                  </a:lnTo>
                  <a:lnTo>
                    <a:pt x="0" y="1274980"/>
                  </a:lnTo>
                  <a:close/>
                </a:path>
              </a:pathLst>
            </a:custGeom>
            <a:blipFill>
              <a:blip r:embed="rId2"/>
              <a:stretch>
                <a:fillRect l="-5972" t="0" r="-597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942943" y="585307"/>
            <a:ext cx="11651374" cy="9926320"/>
            <a:chOff x="0" y="0"/>
            <a:chExt cx="15535166" cy="1323509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2778125"/>
              <a:ext cx="15535166" cy="104569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179"/>
                </a:lnSpc>
              </a:pPr>
              <a:r>
                <a:rPr lang="en-US" sz="36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</a:t>
              </a:r>
              <a:r>
                <a:rPr lang="en-US" b="true" sz="3699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profit per box</a:t>
              </a:r>
              <a:r>
                <a:rPr lang="en-US" sz="36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for Sorghu-Shield packaging is ₹1.10. This indicates a </a:t>
              </a:r>
              <a:r>
                <a:rPr lang="en-US" b="true" sz="3699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strong financial</a:t>
              </a:r>
              <a:r>
                <a:rPr lang="en-US" sz="36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performance, highlighting the potential for sustainable packaging solutions to be both eco-friendly and economically viable. As the demand for green packaging rises, profitability is expected to improve even further.</a:t>
              </a:r>
            </a:p>
            <a:p>
              <a:pPr algn="l" marL="0" indent="0" lvl="0">
                <a:lnSpc>
                  <a:spcPts val="5179"/>
                </a:lnSpc>
              </a:pPr>
            </a:p>
            <a:p>
              <a:pPr algn="l" marL="0" indent="0" lvl="0">
                <a:lnSpc>
                  <a:spcPts val="5179"/>
                </a:lnSpc>
              </a:pPr>
              <a:r>
                <a:rPr lang="en-US" sz="36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Selling price: ₹3.00 </a:t>
              </a:r>
            </a:p>
            <a:p>
              <a:pPr algn="l" marL="0" indent="0" lvl="0">
                <a:lnSpc>
                  <a:spcPts val="5179"/>
                </a:lnSpc>
              </a:pPr>
              <a:r>
                <a:rPr lang="en-US" sz="36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Profit: ₹1.10 </a:t>
              </a:r>
            </a:p>
            <a:p>
              <a:pPr algn="l" marL="0" indent="0" lvl="0">
                <a:lnSpc>
                  <a:spcPts val="5179"/>
                </a:lnSpc>
              </a:pPr>
              <a:r>
                <a:rPr lang="en-US" sz="36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Profit margin: 36–37%</a:t>
              </a:r>
            </a:p>
            <a:p>
              <a:pPr algn="l" marL="0" indent="0" lvl="0">
                <a:lnSpc>
                  <a:spcPts val="5179"/>
                </a:lnSpc>
              </a:pPr>
            </a:p>
            <a:p>
              <a:pPr algn="l" marL="0" indent="0" lvl="0">
                <a:lnSpc>
                  <a:spcPts val="5179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412875"/>
              <a:ext cx="10048766" cy="720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500" u="none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PROFIT PER BOX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9525"/>
              <a:ext cx="10048766" cy="720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500" spc="-70">
                  <a:solidFill>
                    <a:srgbClr val="FFFFFF"/>
                  </a:solidFill>
                  <a:latin typeface="Tenor Sans"/>
                  <a:ea typeface="Tenor Sans"/>
                  <a:cs typeface="Tenor Sans"/>
                  <a:sym typeface="Tenor Sans"/>
                </a:rPr>
                <a:t>₹1.10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6723923">
            <a:off x="13666568" y="-2526377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32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87176">
            <a:off x="3189187" y="-10712043"/>
            <a:ext cx="14136818" cy="12003443"/>
          </a:xfrm>
          <a:custGeom>
            <a:avLst/>
            <a:gdLst/>
            <a:ahLst/>
            <a:cxnLst/>
            <a:rect r="r" b="b" t="t" l="l"/>
            <a:pathLst>
              <a:path h="12003443" w="14136818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05025" y="1562100"/>
            <a:ext cx="14077950" cy="1055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sz="6999" spc="-139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Production and Break-Even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66750" y="5143500"/>
            <a:ext cx="5448300" cy="3872736"/>
            <a:chOff x="0" y="0"/>
            <a:chExt cx="7264400" cy="516364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66675"/>
              <a:ext cx="7264400" cy="751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b="true" sz="3399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VOLUME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353626"/>
              <a:ext cx="7264400" cy="38100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592"/>
                </a:lnSpc>
                <a:spcBef>
                  <a:spcPct val="0"/>
                </a:spcBef>
              </a:pPr>
              <a:r>
                <a:rPr lang="en-US" sz="328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We plan to produce </a:t>
              </a:r>
              <a:r>
                <a:rPr lang="en-US" b="true" sz="3280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50,000 boxes</a:t>
              </a:r>
              <a:r>
                <a:rPr lang="en-US" sz="328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per month, meeting the rising demand for eco-friendly packaging in the food industry.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419850" y="4339446"/>
            <a:ext cx="5448300" cy="4676790"/>
            <a:chOff x="0" y="0"/>
            <a:chExt cx="7264400" cy="623572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66675"/>
              <a:ext cx="7264400" cy="751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b="true" sz="3399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PROFIT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334577"/>
              <a:ext cx="7264400" cy="49011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899"/>
                </a:lnSpc>
                <a:spcBef>
                  <a:spcPct val="0"/>
                </a:spcBef>
              </a:pPr>
              <a:r>
                <a:rPr lang="en-US" sz="34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</a:t>
              </a:r>
              <a:r>
                <a:rPr lang="en-US" b="true" sz="3499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monthly profit</a:t>
              </a:r>
              <a:r>
                <a:rPr lang="en-US" sz="34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is projected to reach ₹55,000, demonstrating the financial viability and sustainability of our product.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172950" y="5143500"/>
            <a:ext cx="5448300" cy="4453761"/>
            <a:chOff x="0" y="0"/>
            <a:chExt cx="7264400" cy="5938348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66675"/>
              <a:ext cx="7264400" cy="751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b="true" sz="3399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TIMELINE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353626"/>
              <a:ext cx="7264400" cy="45847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592"/>
                </a:lnSpc>
                <a:spcBef>
                  <a:spcPct val="0"/>
                </a:spcBef>
              </a:pPr>
              <a:r>
                <a:rPr lang="en-US" sz="328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estimated </a:t>
              </a:r>
              <a:r>
                <a:rPr lang="en-US" b="true" sz="3280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break-even point</a:t>
              </a:r>
              <a:r>
                <a:rPr lang="en-US" sz="328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is approximately 14 months, making Sorghu-Shield a promising investment opportunity for stakeholders.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D4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72950" y="0"/>
            <a:ext cx="6115050" cy="10287000"/>
            <a:chOff x="0" y="0"/>
            <a:chExt cx="94738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34112" t="0" r="-3411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99355" y="257772"/>
            <a:ext cx="11673595" cy="9665089"/>
            <a:chOff x="0" y="0"/>
            <a:chExt cx="15564793" cy="12886785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2203035"/>
              <a:ext cx="13253415" cy="9560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020"/>
                </a:lnSpc>
                <a:spcBef>
                  <a:spcPct val="0"/>
                </a:spcBef>
              </a:pPr>
              <a:r>
                <a:rPr lang="en-US" b="true" sz="4300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TRENDS IN MARKET GROWTH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802687"/>
              <a:ext cx="15564793" cy="90840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020"/>
                </a:lnSpc>
                <a:spcBef>
                  <a:spcPct val="0"/>
                </a:spcBef>
              </a:pPr>
              <a:r>
                <a:rPr lang="en-US" sz="43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demand for </a:t>
              </a:r>
              <a:r>
                <a:rPr lang="en-US" b="true" sz="4300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sustainable packaging</a:t>
              </a:r>
              <a:r>
                <a:rPr lang="en-US" sz="43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solutions is rising significantly, driven by consumer awareness and government initiatives against plastic pollution.  Increasing demand for eco-products - Government plastic ban support - Expansion to food industry </a:t>
              </a:r>
            </a:p>
            <a:p>
              <a:pPr algn="l" marL="0" indent="0" lvl="0">
                <a:lnSpc>
                  <a:spcPts val="6020"/>
                </a:lnSpc>
                <a:spcBef>
                  <a:spcPct val="0"/>
                </a:spcBef>
              </a:pPr>
              <a:r>
                <a:rPr lang="en-US" b="true" sz="4300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Conclusion</a:t>
              </a:r>
              <a:r>
                <a:rPr lang="en-US" sz="43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: - Sustainable alternative to plastic - Profitable business model - Future-ready innovation 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9525"/>
              <a:ext cx="13253415" cy="173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160"/>
                </a:lnSpc>
              </a:pPr>
              <a:r>
                <a:rPr lang="en-US" sz="4300" spc="-86">
                  <a:solidFill>
                    <a:srgbClr val="FFFFFF"/>
                  </a:solidFill>
                  <a:latin typeface="Tenor Sans"/>
                  <a:ea typeface="Tenor Sans"/>
                  <a:cs typeface="Tenor Sans"/>
                  <a:sym typeface="Tenor Sans"/>
                </a:rPr>
                <a:t>Future Potential of Eco-Friendly Packaging Solutions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Sorghu-Shield: Eco Food Packaging</dc:description>
  <dc:identifier>DAHExiTbRgg</dc:identifier>
  <dcterms:modified xsi:type="dcterms:W3CDTF">2011-08-01T06:04:30Z</dcterms:modified>
  <cp:revision>1</cp:revision>
  <dc:title>Presentation - Sorghu-Shield: Eco Food Packaging</dc:title>
</cp:coreProperties>
</file>